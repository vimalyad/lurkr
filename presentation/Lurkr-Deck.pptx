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-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4376" y="1371600"/>
            <a:ext cx="1600200" cy="1600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108960"/>
            <a:ext cx="10360152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6600" b="1">
                <a:solidFill>
                  <a:srgbClr val="ECE9E2"/>
                </a:solidFill>
                <a:latin typeface="Georgia"/>
              </a:rPr>
              <a:t>Lurkr</a:t>
            </a:r>
          </a:p>
          <a:p>
            <a:pPr algn="ctr">
              <a:spcAft>
                <a:spcPts val="1600"/>
              </a:spcAft>
            </a:pPr>
            <a:r>
              <a:rPr sz="2200" b="0">
                <a:solidFill>
                  <a:srgbClr val="F5B544"/>
                </a:solidFill>
                <a:latin typeface="Georgia"/>
              </a:rPr>
              <a:t>always watching, never blinking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8D8A82"/>
                </a:solidFill>
                <a:latin typeface="Helvetica Neue"/>
              </a:rPr>
              <a:t>Multi-agent market intelligence — the competitor-watching team that never sleeps.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777240"/>
            <a:ext cx="502920" cy="64008"/>
          </a:xfrm>
          <a:prstGeom prst="rect">
            <a:avLst/>
          </a:prstGeom>
          <a:solidFill>
            <a:srgbClr val="F5B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5B544"/>
                </a:solidFill>
                <a:latin typeface="Consolas"/>
              </a:rPr>
              <a:t>01 — Problem</a:t>
            </a:r>
          </a:p>
          <a:p>
            <a:pPr algn="l">
              <a:spcAft>
                <a:spcPts val="0"/>
              </a:spcAft>
            </a:pPr>
            <a:r>
              <a:rPr sz="3600" b="1">
                <a:solidFill>
                  <a:srgbClr val="ECE9E2"/>
                </a:solidFill>
                <a:latin typeface="Georgia"/>
              </a:rPr>
              <a:t>Founders fly blind on 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600" b="1">
                <a:solidFill>
                  <a:srgbClr val="F5B544"/>
                </a:solidFill>
                <a:latin typeface="Consolas"/>
              </a:rPr>
              <a:t>▸  </a:t>
            </a:r>
            <a:r>
              <a:rPr sz="1600">
                <a:solidFill>
                  <a:srgbClr val="ECE9E2"/>
                </a:solidFill>
                <a:latin typeface="Helvetica Neue"/>
              </a:rPr>
              <a:t>Competitor research is manual, scattered across tabs — and stale the day it's done.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F5B544"/>
                </a:solidFill>
                <a:latin typeface="Consolas"/>
              </a:rPr>
              <a:t>▸  </a:t>
            </a:r>
            <a:r>
              <a:rPr sz="1600">
                <a:solidFill>
                  <a:srgbClr val="ECE9E2"/>
                </a:solidFill>
                <a:latin typeface="Helvetica Neue"/>
              </a:rPr>
              <a:t>Generic “market reports” aren't about your product or your specific edge.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F5B544"/>
                </a:solidFill>
                <a:latin typeface="Consolas"/>
              </a:rPr>
              <a:t>▸  </a:t>
            </a:r>
            <a:r>
              <a:rPr sz="1600">
                <a:solidFill>
                  <a:srgbClr val="ECE9E2"/>
                </a:solidFill>
                <a:latin typeface="Helvetica Neue"/>
              </a:rPr>
              <a:t>By the time you notice a rival's move, the window to react has already closed.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D8A82"/>
                </a:solidFill>
                <a:latin typeface="Consolas"/>
              </a:rPr>
              <a:t>LURKR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D8A82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777240"/>
            <a:ext cx="502920" cy="64008"/>
          </a:xfrm>
          <a:prstGeom prst="rect">
            <a:avLst/>
          </a:prstGeom>
          <a:solidFill>
            <a:srgbClr val="F5B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5B544"/>
                </a:solidFill>
                <a:latin typeface="Consolas"/>
              </a:rPr>
              <a:t>02 — Solution</a:t>
            </a:r>
          </a:p>
          <a:p>
            <a:pPr algn="l">
              <a:spcAft>
                <a:spcPts val="0"/>
              </a:spcAft>
            </a:pPr>
            <a:r>
              <a:rPr sz="3600" b="1">
                <a:solidFill>
                  <a:srgbClr val="ECE9E2"/>
                </a:solidFill>
                <a:latin typeface="Georgia"/>
              </a:rPr>
              <a:t>Describe your idea. Get a personalised brief.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600" b="1">
                <a:solidFill>
                  <a:srgbClr val="F5B544"/>
                </a:solidFill>
                <a:latin typeface="Consolas"/>
              </a:rPr>
              <a:t>▸  </a:t>
            </a:r>
            <a:r>
              <a:rPr sz="1600">
                <a:solidFill>
                  <a:srgbClr val="ECE9E2"/>
                </a:solidFill>
                <a:latin typeface="Helvetica Neue"/>
              </a:rPr>
              <a:t>You describe your startup in a sentence; Lurkr finds the real competitors.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F5B544"/>
                </a:solidFill>
                <a:latin typeface="Consolas"/>
              </a:rPr>
              <a:t>▸  </a:t>
            </a:r>
            <a:r>
              <a:rPr sz="1600">
                <a:solidFill>
                  <a:srgbClr val="ECE9E2"/>
                </a:solidFill>
                <a:latin typeface="Helvetica Neue"/>
              </a:rPr>
              <a:t>A team of AI agents gathers live signals and analyses them for YOUR product.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F5B544"/>
                </a:solidFill>
                <a:latin typeface="Consolas"/>
              </a:rPr>
              <a:t>▸  </a:t>
            </a:r>
            <a:r>
              <a:rPr sz="1600">
                <a:solidFill>
                  <a:srgbClr val="ECE9E2"/>
                </a:solidFill>
                <a:latin typeface="Helvetica Neue"/>
              </a:rPr>
              <a:t>Output: the single biggest threat + opportunity, each with a recommended action.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F5B544"/>
                </a:solidFill>
                <a:latin typeface="Consolas"/>
              </a:rPr>
              <a:t>▸  </a:t>
            </a:r>
            <a:r>
              <a:rPr sz="1600">
                <a:solidFill>
                  <a:srgbClr val="ECE9E2"/>
                </a:solidFill>
                <a:latin typeface="Helvetica Neue"/>
              </a:rPr>
              <a:t>And it keeps watching — automatic daily refresh while you sleep.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D8A82"/>
                </a:solidFill>
                <a:latin typeface="Consolas"/>
              </a:rPr>
              <a:t>LURKR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D8A82"/>
                </a:solidFill>
                <a:latin typeface="Consola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777240"/>
            <a:ext cx="502920" cy="64008"/>
          </a:xfrm>
          <a:prstGeom prst="rect">
            <a:avLst/>
          </a:prstGeom>
          <a:solidFill>
            <a:srgbClr val="F5B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5B544"/>
                </a:solidFill>
                <a:latin typeface="Consolas"/>
              </a:rPr>
              <a:t>03 — How it works</a:t>
            </a:r>
          </a:p>
          <a:p>
            <a:pPr algn="l">
              <a:spcAft>
                <a:spcPts val="0"/>
              </a:spcAft>
            </a:pPr>
            <a:r>
              <a:rPr sz="3600" b="1">
                <a:solidFill>
                  <a:srgbClr val="ECE9E2"/>
                </a:solidFill>
                <a:latin typeface="Georgia"/>
              </a:rPr>
              <a:t>A grounded multi-agent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600" b="1">
                <a:solidFill>
                  <a:srgbClr val="F5B544"/>
                </a:solidFill>
                <a:latin typeface="Consolas"/>
              </a:rPr>
              <a:t>▸  </a:t>
            </a:r>
            <a:r>
              <a:rPr sz="1600">
                <a:solidFill>
                  <a:srgbClr val="ECE9E2"/>
                </a:solidFill>
                <a:latin typeface="Helvetica Neue"/>
              </a:rPr>
              <a:t>①  Discovery — finds real, currently-operating competitors in your space.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F5B544"/>
                </a:solidFill>
                <a:latin typeface="Consolas"/>
              </a:rPr>
              <a:t>▸  </a:t>
            </a:r>
            <a:r>
              <a:rPr sz="1600">
                <a:solidFill>
                  <a:srgbClr val="ECE9E2"/>
                </a:solidFill>
                <a:latin typeface="Helvetica Neue"/>
              </a:rPr>
              <a:t>②  Gather — live web (Tavily) + news (Google News) signals per competitor.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F5B544"/>
                </a:solidFill>
                <a:latin typeface="Consolas"/>
              </a:rPr>
              <a:t>▸  </a:t>
            </a:r>
            <a:r>
              <a:rPr sz="1600">
                <a:solidFill>
                  <a:srgbClr val="ECE9E2"/>
                </a:solidFill>
                <a:latin typeface="Helvetica Neue"/>
              </a:rPr>
              <a:t>③  Analysts — Marketing · Product · Sales run in parallel, grounded in those signals.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F5B544"/>
                </a:solidFill>
                <a:latin typeface="Consolas"/>
              </a:rPr>
              <a:t>▸  </a:t>
            </a:r>
            <a:r>
              <a:rPr sz="1600">
                <a:solidFill>
                  <a:srgbClr val="ECE9E2"/>
                </a:solidFill>
                <a:latin typeface="Helvetica Neue"/>
              </a:rPr>
              <a:t>④  Strategy — synthesises one executive brief: threat + opportunity + watch items.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D8A82"/>
                </a:solidFill>
                <a:latin typeface="Consolas"/>
              </a:rPr>
              <a:t>LURKR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D8A82"/>
                </a:solidFill>
                <a:latin typeface="Consola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777240"/>
            <a:ext cx="502920" cy="64008"/>
          </a:xfrm>
          <a:prstGeom prst="rect">
            <a:avLst/>
          </a:prstGeom>
          <a:solidFill>
            <a:srgbClr val="F5B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5B544"/>
                </a:solidFill>
                <a:latin typeface="Consolas"/>
              </a:rPr>
              <a:t>04 — Architecture</a:t>
            </a:r>
          </a:p>
          <a:p>
            <a:pPr algn="l">
              <a:spcAft>
                <a:spcPts val="0"/>
              </a:spcAft>
            </a:pPr>
            <a:r>
              <a:rPr sz="3600" b="1">
                <a:solidFill>
                  <a:srgbClr val="ECE9E2"/>
                </a:solidFill>
                <a:latin typeface="Georgia"/>
              </a:rPr>
              <a:t>Tiered, secret-isolating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600" b="1">
                <a:solidFill>
                  <a:srgbClr val="F5B544"/>
                </a:solidFill>
                <a:latin typeface="Consolas"/>
              </a:rPr>
              <a:t>▸  </a:t>
            </a:r>
            <a:r>
              <a:rPr sz="1600">
                <a:solidFill>
                  <a:srgbClr val="ECE9E2"/>
                </a:solidFill>
                <a:latin typeface="Helvetica Neue"/>
              </a:rPr>
              <a:t>Thin-client Android shell (Capacitor) loads a CDN-hosted React 19 SPA.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F5B544"/>
                </a:solidFill>
                <a:latin typeface="Consolas"/>
              </a:rPr>
              <a:t>▸  </a:t>
            </a:r>
            <a:r>
              <a:rPr sz="1600">
                <a:solidFill>
                  <a:srgbClr val="ECE9E2"/>
                </a:solidFill>
                <a:latin typeface="Helvetica Neue"/>
              </a:rPr>
              <a:t>Stateless Express API tier holds every key — nothing secret ships on the client.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F5B544"/>
                </a:solidFill>
                <a:latin typeface="Consolas"/>
              </a:rPr>
              <a:t>▸  </a:t>
            </a:r>
            <a:r>
              <a:rPr sz="1600">
                <a:solidFill>
                  <a:srgbClr val="ECE9E2"/>
                </a:solidFill>
                <a:latin typeface="Helvetica Neue"/>
              </a:rPr>
              <a:t>Neon Postgres stores accounts, ideas and cached analyses.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F5B544"/>
                </a:solidFill>
                <a:latin typeface="Consolas"/>
              </a:rPr>
              <a:t>▸  </a:t>
            </a:r>
            <a:r>
              <a:rPr sz="1600">
                <a:solidFill>
                  <a:srgbClr val="ECE9E2"/>
                </a:solidFill>
                <a:latin typeface="Helvetica Neue"/>
              </a:rPr>
              <a:t>OpenRouter (LLMs) · Tavily + Google News (signals) · GitHub Actions (cron + CI/CD).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D8A82"/>
                </a:solidFill>
                <a:latin typeface="Consolas"/>
              </a:rPr>
              <a:t>LURKR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D8A82"/>
                </a:solidFill>
                <a:latin typeface="Consola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777240"/>
            <a:ext cx="502920" cy="64008"/>
          </a:xfrm>
          <a:prstGeom prst="rect">
            <a:avLst/>
          </a:prstGeom>
          <a:solidFill>
            <a:srgbClr val="F5B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5B544"/>
                </a:solidFill>
                <a:latin typeface="Consolas"/>
              </a:rPr>
              <a:t>05 — The engine</a:t>
            </a:r>
          </a:p>
          <a:p>
            <a:pPr algn="l">
              <a:spcAft>
                <a:spcPts val="0"/>
              </a:spcAft>
            </a:pPr>
            <a:r>
              <a:rPr sz="3600" b="1">
                <a:solidFill>
                  <a:srgbClr val="ECE9E2"/>
                </a:solidFill>
                <a:latin typeface="Georgia"/>
              </a:rPr>
              <a:t>Why the multi-agent design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600" b="1">
                <a:solidFill>
                  <a:srgbClr val="F5B544"/>
                </a:solidFill>
                <a:latin typeface="Consolas"/>
              </a:rPr>
              <a:t>▸  </a:t>
            </a:r>
            <a:r>
              <a:rPr sz="1600">
                <a:solidFill>
                  <a:srgbClr val="ECE9E2"/>
                </a:solidFill>
                <a:latin typeface="Helvetica Neue"/>
              </a:rPr>
              <a:t>Fan-out / fan-in: three analysts run concurrently, Strategy synthesises the result.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F5B544"/>
                </a:solidFill>
                <a:latin typeface="Consolas"/>
              </a:rPr>
              <a:t>▸  </a:t>
            </a:r>
            <a:r>
              <a:rPr sz="1600">
                <a:solidFill>
                  <a:srgbClr val="ECE9E2"/>
                </a:solidFill>
                <a:latin typeface="Helvetica Neue"/>
              </a:rPr>
              <a:t>Grounding / RAG discipline: every claim must cite a real signal — anti-hallucination.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F5B544"/>
                </a:solidFill>
                <a:latin typeface="Consolas"/>
              </a:rPr>
              <a:t>▸  </a:t>
            </a:r>
            <a:r>
              <a:rPr sz="1600">
                <a:solidFill>
                  <a:srgbClr val="ECE9E2"/>
                </a:solidFill>
                <a:latin typeface="Helvetica Neue"/>
              </a:rPr>
              <a:t>Cost-aware model tiering: a fast model for breadth, a stronger one for judgement.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F5B544"/>
                </a:solidFill>
                <a:latin typeface="Consolas"/>
              </a:rPr>
              <a:t>▸  </a:t>
            </a:r>
            <a:r>
              <a:rPr sz="1600">
                <a:solidFill>
                  <a:srgbClr val="ECE9E2"/>
                </a:solidFill>
                <a:latin typeface="Helvetica Neue"/>
              </a:rPr>
              <a:t>Fault-isolated sources + bounded-retry JSON parsing — the sweep always completes.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D8A82"/>
                </a:solidFill>
                <a:latin typeface="Consolas"/>
              </a:rPr>
              <a:t>LURKR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D8A82"/>
                </a:solidFill>
                <a:latin typeface="Consola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777240"/>
            <a:ext cx="502920" cy="64008"/>
          </a:xfrm>
          <a:prstGeom prst="rect">
            <a:avLst/>
          </a:prstGeom>
          <a:solidFill>
            <a:srgbClr val="F5B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5B544"/>
                </a:solidFill>
                <a:latin typeface="Consolas"/>
              </a:rPr>
              <a:t>06 — Stack &amp; rationale</a:t>
            </a:r>
          </a:p>
          <a:p>
            <a:pPr algn="l">
              <a:spcAft>
                <a:spcPts val="0"/>
              </a:spcAft>
            </a:pPr>
            <a:r>
              <a:rPr sz="3600" b="1">
                <a:solidFill>
                  <a:srgbClr val="ECE9E2"/>
                </a:solidFill>
                <a:latin typeface="Georgia"/>
              </a:rPr>
              <a:t>Why this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600" b="1">
                <a:solidFill>
                  <a:srgbClr val="F5B544"/>
                </a:solidFill>
                <a:latin typeface="Consolas"/>
              </a:rPr>
              <a:t>▸  </a:t>
            </a:r>
            <a:r>
              <a:rPr sz="1600">
                <a:solidFill>
                  <a:srgbClr val="ECE9E2"/>
                </a:solidFill>
                <a:latin typeface="Helvetica Neue"/>
              </a:rPr>
              <a:t>Neon (serverless Postgres) — relational + JSONB, scale-to-zero, DB branching, zero lock-in.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F5B544"/>
                </a:solidFill>
                <a:latin typeface="Consolas"/>
              </a:rPr>
              <a:t>▸  </a:t>
            </a:r>
            <a:r>
              <a:rPr sz="1600">
                <a:solidFill>
                  <a:srgbClr val="ECE9E2"/>
                </a:solidFill>
                <a:latin typeface="Helvetica Neue"/>
              </a:rPr>
              <a:t>OpenRouter — one OpenAI-compatible API across models; cost-aware tiering, no lock-in.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F5B544"/>
                </a:solidFill>
                <a:latin typeface="Consolas"/>
              </a:rPr>
              <a:t>▸  </a:t>
            </a:r>
            <a:r>
              <a:rPr sz="1600">
                <a:solidFill>
                  <a:srgbClr val="ECE9E2"/>
                </a:solidFill>
                <a:latin typeface="Helvetica Neue"/>
              </a:rPr>
              <a:t>Roll-our-own auth — scrypt + HMAC JWT on the Node std-lib; no auth SDK, data stays ours.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F5B544"/>
                </a:solidFill>
                <a:latin typeface="Consolas"/>
              </a:rPr>
              <a:t>▸  </a:t>
            </a:r>
            <a:r>
              <a:rPr sz="1600">
                <a:solidFill>
                  <a:srgbClr val="ECE9E2"/>
                </a:solidFill>
                <a:latin typeface="Helvetica Neue"/>
              </a:rPr>
              <a:t>Render + GitHub Pages + Actions — free-tier, zero-ops, ship by git push.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D8A82"/>
                </a:solidFill>
                <a:latin typeface="Consolas"/>
              </a:rPr>
              <a:t>LURKR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D8A82"/>
                </a:solidFill>
                <a:latin typeface="Consola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777240"/>
            <a:ext cx="502920" cy="64008"/>
          </a:xfrm>
          <a:prstGeom prst="rect">
            <a:avLst/>
          </a:prstGeom>
          <a:solidFill>
            <a:srgbClr val="F5B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5B544"/>
                </a:solidFill>
                <a:latin typeface="Consolas"/>
              </a:rPr>
              <a:t>07 — Accounts &amp; memory</a:t>
            </a:r>
          </a:p>
          <a:p>
            <a:pPr algn="l">
              <a:spcAft>
                <a:spcPts val="0"/>
              </a:spcAft>
            </a:pPr>
            <a:r>
              <a:rPr sz="3600" b="1">
                <a:solidFill>
                  <a:srgbClr val="ECE9E2"/>
                </a:solidFill>
                <a:latin typeface="Georgia"/>
              </a:rPr>
              <a:t>Per-user intelligence that compounds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600" b="1">
                <a:solidFill>
                  <a:srgbClr val="F5B544"/>
                </a:solidFill>
                <a:latin typeface="Consolas"/>
              </a:rPr>
              <a:t>▸  </a:t>
            </a:r>
            <a:r>
              <a:rPr sz="1600">
                <a:solidFill>
                  <a:srgbClr val="ECE9E2"/>
                </a:solidFill>
                <a:latin typeface="Helvetica Neue"/>
              </a:rPr>
              <a:t>Hard auth gate — Google (native account picker on Android) or email + password.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F5B544"/>
                </a:solidFill>
                <a:latin typeface="Consolas"/>
              </a:rPr>
              <a:t>▸  </a:t>
            </a:r>
            <a:r>
              <a:rPr sz="1600">
                <a:solidFill>
                  <a:srgbClr val="ECE9E2"/>
                </a:solidFill>
                <a:latin typeface="Helvetica Neue"/>
              </a:rPr>
              <a:t>Every search is saved per user; a “My Ideas” library keeps them.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F5B544"/>
                </a:solidFill>
                <a:latin typeface="Consolas"/>
              </a:rPr>
              <a:t>▸  </a:t>
            </a:r>
            <a:r>
              <a:rPr sz="1600">
                <a:solidFill>
                  <a:srgbClr val="ECE9E2"/>
                </a:solidFill>
                <a:latin typeface="Helvetica Neue"/>
              </a:rPr>
              <a:t>Stale-while-present cache: instant re-opens; a live sweep runs only on a cache miss.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F5B544"/>
                </a:solidFill>
                <a:latin typeface="Consolas"/>
              </a:rPr>
              <a:t>▸  </a:t>
            </a:r>
            <a:r>
              <a:rPr sz="1600">
                <a:solidFill>
                  <a:srgbClr val="ECE9E2"/>
                </a:solidFill>
                <a:latin typeface="Helvetica Neue"/>
              </a:rPr>
              <a:t>Opt-in daily refresh at 04:00 IST — a cron re-runs and caches your watched ideas.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D8A82"/>
                </a:solidFill>
                <a:latin typeface="Consolas"/>
              </a:rPr>
              <a:t>LURKR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D8A82"/>
                </a:solidFill>
                <a:latin typeface="Consola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777240"/>
            <a:ext cx="502920" cy="64008"/>
          </a:xfrm>
          <a:prstGeom prst="rect">
            <a:avLst/>
          </a:prstGeom>
          <a:solidFill>
            <a:srgbClr val="F5B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5B544"/>
                </a:solidFill>
                <a:latin typeface="Consolas"/>
              </a:rPr>
              <a:t>08 — Delivery</a:t>
            </a:r>
          </a:p>
          <a:p>
            <a:pPr algn="l">
              <a:spcAft>
                <a:spcPts val="0"/>
              </a:spcAft>
            </a:pPr>
            <a:r>
              <a:rPr sz="3600" b="1">
                <a:solidFill>
                  <a:srgbClr val="ECE9E2"/>
                </a:solidFill>
                <a:latin typeface="Georgia"/>
              </a:rPr>
              <a:t>Build-once, ship by git push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600" b="1">
                <a:solidFill>
                  <a:srgbClr val="F5B544"/>
                </a:solidFill>
                <a:latin typeface="Consolas"/>
              </a:rPr>
              <a:t>▸  </a:t>
            </a:r>
            <a:r>
              <a:rPr sz="1600">
                <a:solidFill>
                  <a:srgbClr val="ECE9E2"/>
                </a:solidFill>
                <a:latin typeface="Helvetica Neue"/>
              </a:rPr>
              <a:t>The Android APK is a thin shell — frontend updates need no rebuild or reinstall.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F5B544"/>
                </a:solidFill>
                <a:latin typeface="Consolas"/>
              </a:rPr>
              <a:t>▸  </a:t>
            </a:r>
            <a:r>
              <a:rPr sz="1600">
                <a:solidFill>
                  <a:srgbClr val="ECE9E2"/>
                </a:solidFill>
                <a:latin typeface="Helvetica Neue"/>
              </a:rPr>
              <a:t>A signed, auto-versioned APK pipeline publishes to GitHub Releases.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F5B544"/>
                </a:solidFill>
                <a:latin typeface="Consolas"/>
              </a:rPr>
              <a:t>▸  </a:t>
            </a:r>
            <a:r>
              <a:rPr sz="1600">
                <a:solidFill>
                  <a:srgbClr val="ECE9E2"/>
                </a:solidFill>
                <a:latin typeface="Helvetica Neue"/>
              </a:rPr>
              <a:t>Frontend auto-deploys to GitHub Pages; the backend auto-deploys on Render.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F5B544"/>
                </a:solidFill>
                <a:latin typeface="Consolas"/>
              </a:rPr>
              <a:t>▸  </a:t>
            </a:r>
            <a:r>
              <a:rPr sz="1600">
                <a:solidFill>
                  <a:srgbClr val="ECE9E2"/>
                </a:solidFill>
                <a:latin typeface="Helvetica Neue"/>
              </a:rPr>
              <a:t>A CI build-gate compiles the app on every change before it ships.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D8A82"/>
                </a:solidFill>
                <a:latin typeface="Consolas"/>
              </a:rPr>
              <a:t>LURKR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D8A82"/>
                </a:solidFill>
                <a:latin typeface="Consola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777240"/>
            <a:ext cx="502920" cy="64008"/>
          </a:xfrm>
          <a:prstGeom prst="rect">
            <a:avLst/>
          </a:prstGeom>
          <a:solidFill>
            <a:srgbClr val="F5B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5B544"/>
                </a:solidFill>
                <a:latin typeface="Consolas"/>
              </a:rPr>
              <a:t>09 — Engineering</a:t>
            </a:r>
          </a:p>
          <a:p>
            <a:pPr algn="l">
              <a:spcAft>
                <a:spcPts val="0"/>
              </a:spcAft>
            </a:pPr>
            <a:r>
              <a:rPr sz="3600" b="1">
                <a:solidFill>
                  <a:srgbClr val="ECE9E2"/>
                </a:solidFill>
                <a:latin typeface="Georgia"/>
              </a:rPr>
              <a:t>Security &amp; resilience by default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600" b="1">
                <a:solidFill>
                  <a:srgbClr val="F5B544"/>
                </a:solidFill>
                <a:latin typeface="Consolas"/>
              </a:rPr>
              <a:t>▸  </a:t>
            </a:r>
            <a:r>
              <a:rPr sz="1600">
                <a:solidFill>
                  <a:srgbClr val="ECE9E2"/>
                </a:solidFill>
                <a:latin typeface="Helvetica Neue"/>
              </a:rPr>
              <a:t>Secret isolation — keys live only on the backend; the client bundle ships none.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F5B544"/>
                </a:solidFill>
                <a:latin typeface="Consolas"/>
              </a:rPr>
              <a:t>▸  </a:t>
            </a:r>
            <a:r>
              <a:rPr sz="1600">
                <a:solidFill>
                  <a:srgbClr val="ECE9E2"/>
                </a:solidFill>
                <a:latin typeface="Helvetica Neue"/>
              </a:rPr>
              <a:t>Deny-by-default gate; the user is revalidated from the DB on every request.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F5B544"/>
                </a:solidFill>
                <a:latin typeface="Consolas"/>
              </a:rPr>
              <a:t>▸  </a:t>
            </a:r>
            <a:r>
              <a:rPr sz="1600">
                <a:solidFill>
                  <a:srgbClr val="ECE9E2"/>
                </a:solidFill>
                <a:latin typeface="Helvetica Neue"/>
              </a:rPr>
              <a:t>Memory-hard scrypt hashing, constant-time verify, audience-pinned Google tokens.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F5B544"/>
                </a:solidFill>
                <a:latin typeface="Consolas"/>
              </a:rPr>
              <a:t>▸  </a:t>
            </a:r>
            <a:r>
              <a:rPr sz="1600">
                <a:solidFill>
                  <a:srgbClr val="ECE9E2"/>
                </a:solidFill>
                <a:latin typeface="Helvetica Neue"/>
              </a:rPr>
              <a:t>Idempotent migrations; an append-only usage ledger ready for usage-based billing.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D8A82"/>
                </a:solidFill>
                <a:latin typeface="Consolas"/>
              </a:rPr>
              <a:t>LURKR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D8A82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777240"/>
            <a:ext cx="502920" cy="64008"/>
          </a:xfrm>
          <a:prstGeom prst="rect">
            <a:avLst/>
          </a:prstGeom>
          <a:solidFill>
            <a:srgbClr val="F5B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5B544"/>
                </a:solidFill>
                <a:latin typeface="Consolas"/>
              </a:rPr>
              <a:t>10 — Roadmap</a:t>
            </a:r>
          </a:p>
          <a:p>
            <a:pPr algn="l">
              <a:spcAft>
                <a:spcPts val="0"/>
              </a:spcAft>
            </a:pPr>
            <a:r>
              <a:rPr sz="3600" b="1">
                <a:solidFill>
                  <a:srgbClr val="ECE9E2"/>
                </a:solidFill>
                <a:latin typeface="Georgia"/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600" b="1">
                <a:solidFill>
                  <a:srgbClr val="F5B544"/>
                </a:solidFill>
                <a:latin typeface="Consolas"/>
              </a:rPr>
              <a:t>▸  </a:t>
            </a:r>
            <a:r>
              <a:rPr sz="1600">
                <a:solidFill>
                  <a:srgbClr val="ECE9E2"/>
                </a:solidFill>
                <a:latin typeface="Helvetica Neue"/>
              </a:rPr>
              <a:t>Usage-based billing — the usage ledger is already in place.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F5B544"/>
                </a:solidFill>
                <a:latin typeface="Consolas"/>
              </a:rPr>
              <a:t>▸  </a:t>
            </a:r>
            <a:r>
              <a:rPr sz="1600">
                <a:solidFill>
                  <a:srgbClr val="ECE9E2"/>
                </a:solidFill>
                <a:latin typeface="Helvetica Neue"/>
              </a:rPr>
              <a:t>Email alerts when a new high-urgency threat appears (Resend).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F5B544"/>
                </a:solidFill>
                <a:latin typeface="Consolas"/>
              </a:rPr>
              <a:t>▸  </a:t>
            </a:r>
            <a:r>
              <a:rPr sz="1600">
                <a:solidFill>
                  <a:srgbClr val="ECE9E2"/>
                </a:solidFill>
                <a:latin typeface="Helvetica Neue"/>
              </a:rPr>
              <a:t>Email verification + password reset, once a sending domain is provisioned.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F5B544"/>
                </a:solidFill>
                <a:latin typeface="Consolas"/>
              </a:rPr>
              <a:t>▸  </a:t>
            </a:r>
            <a:r>
              <a:rPr sz="1600">
                <a:solidFill>
                  <a:srgbClr val="ECE9E2"/>
                </a:solidFill>
                <a:latin typeface="Helvetica Neue"/>
              </a:rPr>
              <a:t>Native Google sign-in polish and an iOS build.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D8A82"/>
                </a:solidFill>
                <a:latin typeface="Consolas"/>
              </a:rPr>
              <a:t>LURKR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D8A82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-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4376" y="1371600"/>
            <a:ext cx="1600200" cy="1600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108960"/>
            <a:ext cx="10360152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6600" b="1">
                <a:solidFill>
                  <a:srgbClr val="ECE9E2"/>
                </a:solidFill>
                <a:latin typeface="Georgia"/>
              </a:rPr>
              <a:t>Lurkr</a:t>
            </a:r>
          </a:p>
          <a:p>
            <a:pPr algn="ctr">
              <a:spcAft>
                <a:spcPts val="1600"/>
              </a:spcAft>
            </a:pPr>
            <a:r>
              <a:rPr sz="2200" b="0">
                <a:solidFill>
                  <a:srgbClr val="F5B544"/>
                </a:solidFill>
                <a:latin typeface="Georgia"/>
              </a:rPr>
              <a:t>Always watching, never blinking.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8D8A82"/>
                </a:solidFill>
                <a:latin typeface="Helvetica Neue"/>
              </a:rPr>
              <a:t>React 19 · Vite · Tailwind v4 · Capacitor 7 · Express · Neon Postgres · OpenRouter · GitHub Actions · Render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